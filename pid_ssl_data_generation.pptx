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0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0E0FF"/>
                </a:solidFill>
              </a:rPr>
              <a:t>PID-SAR-3: Data Generation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45720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C4FF"/>
                </a:solidFill>
              </a:rPr>
              <a:t>Three-view synthetic benchmark  |  10 PID atom types  |  d=32 dimensional observations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749808"/>
            <a:ext cx="2834640" cy="292608"/>
          </a:xfrm>
          <a:prstGeom prst="rect">
            <a:avLst/>
          </a:prstGeom>
          <a:solidFill>
            <a:srgbClr val="0D0D1E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1" y="7772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4FF"/>
                </a:solidFill>
              </a:rPr>
              <a:t>LATENT FACTORS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749808"/>
            <a:ext cx="4846320" cy="292608"/>
          </a:xfrm>
          <a:prstGeom prst="rect">
            <a:avLst/>
          </a:prstGeom>
          <a:solidFill>
            <a:srgbClr val="0D0D1E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9272" y="7772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4FF"/>
                </a:solidFill>
              </a:rPr>
              <a:t>PID ATOM TYPES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749808"/>
            <a:ext cx="3566160" cy="292608"/>
          </a:xfrm>
          <a:prstGeom prst="rect">
            <a:avLst/>
          </a:prstGeom>
          <a:solidFill>
            <a:srgbClr val="0D0D1E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85632" y="7772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4FF"/>
                </a:solidFill>
              </a:rPr>
              <a:t>3-VIEW OUTPUTS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115568"/>
            <a:ext cx="2971800" cy="438912"/>
          </a:xfrm>
          <a:prstGeom prst="rect">
            <a:avLst/>
          </a:prstGeom>
          <a:solidFill>
            <a:srgbClr val="0D0D1E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1152144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8F0"/>
                </a:solidFill>
              </a:rPr>
              <a:t>u ~ N(0, Iₘ)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115568"/>
            <a:ext cx="5029200" cy="438912"/>
          </a:xfrm>
          <a:prstGeom prst="rect">
            <a:avLst/>
          </a:prstGeom>
          <a:solidFill>
            <a:srgbClr val="54A24B"/>
          </a:solidFill>
          <a:ln w="7620">
            <a:solidFill>
              <a:srgbClr val="368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1152144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U1 — Unique v1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36245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views: ■ · 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152144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only x₁ carries signal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02752" y="1335024"/>
            <a:ext cx="128016" cy="0"/>
          </a:xfrm>
          <a:prstGeom prst="line">
            <a:avLst/>
          </a:prstGeom>
          <a:ln w="15240">
            <a:solidFill>
              <a:srgbClr val="54A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458200" y="1188720"/>
            <a:ext cx="1005840" cy="292608"/>
          </a:xfrm>
          <a:prstGeom prst="rect">
            <a:avLst/>
          </a:prstGeom>
          <a:solidFill>
            <a:srgbClr val="54A24B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1207008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x₁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28632" y="1188720"/>
            <a:ext cx="1005840" cy="292608"/>
          </a:xfrm>
          <a:prstGeom prst="rect">
            <a:avLst/>
          </a:prstGeom>
          <a:solidFill>
            <a:srgbClr val="0D0D1E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01784" y="1207008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99064" y="1188720"/>
            <a:ext cx="1005840" cy="292608"/>
          </a:xfrm>
          <a:prstGeom prst="rect">
            <a:avLst/>
          </a:prstGeom>
          <a:solidFill>
            <a:srgbClr val="0D0D1E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72216" y="1207008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" y="1609344"/>
            <a:ext cx="2971800" cy="438912"/>
          </a:xfrm>
          <a:prstGeom prst="rect">
            <a:avLst/>
          </a:prstGeom>
          <a:solidFill>
            <a:srgbClr val="151526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" y="164592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8F0"/>
                </a:solidFill>
              </a:rPr>
              <a:t>u ~ N(0, Iₘ)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1609344"/>
            <a:ext cx="5029200" cy="438912"/>
          </a:xfrm>
          <a:prstGeom prst="rect">
            <a:avLst/>
          </a:prstGeom>
          <a:solidFill>
            <a:srgbClr val="54A24B"/>
          </a:solidFill>
          <a:ln w="7620">
            <a:solidFill>
              <a:srgbClr val="368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0128" y="1645920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U2 — Unique 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185623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views: · ■ 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64592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only x₂ carries signal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02752" y="1828800"/>
            <a:ext cx="128016" cy="0"/>
          </a:xfrm>
          <a:prstGeom prst="line">
            <a:avLst/>
          </a:prstGeom>
          <a:ln w="15240">
            <a:solidFill>
              <a:srgbClr val="54A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458200" y="1682496"/>
            <a:ext cx="1005840" cy="292608"/>
          </a:xfrm>
          <a:prstGeom prst="rect">
            <a:avLst/>
          </a:prstGeom>
          <a:solidFill>
            <a:srgbClr val="151526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1700784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28632" y="1682496"/>
            <a:ext cx="1005840" cy="292608"/>
          </a:xfrm>
          <a:prstGeom prst="rect">
            <a:avLst/>
          </a:prstGeom>
          <a:solidFill>
            <a:srgbClr val="54A24B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01784" y="1700784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x₂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799064" y="1682496"/>
            <a:ext cx="1005840" cy="292608"/>
          </a:xfrm>
          <a:prstGeom prst="rect">
            <a:avLst/>
          </a:prstGeom>
          <a:solidFill>
            <a:srgbClr val="151526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72216" y="1700784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" y="2103120"/>
            <a:ext cx="2971800" cy="438912"/>
          </a:xfrm>
          <a:prstGeom prst="rect">
            <a:avLst/>
          </a:prstGeom>
          <a:solidFill>
            <a:srgbClr val="0D0D1E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1168" y="213969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8F0"/>
                </a:solidFill>
              </a:rPr>
              <a:t>u ~ N(0, Iₘ)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2103120"/>
            <a:ext cx="5029200" cy="438912"/>
          </a:xfrm>
          <a:prstGeom prst="rect">
            <a:avLst/>
          </a:prstGeom>
          <a:solidFill>
            <a:srgbClr val="54A24B"/>
          </a:solidFill>
          <a:ln w="7620">
            <a:solidFill>
              <a:srgbClr val="368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10128" y="2139696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U3 — Unique v3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10128" y="235000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views: · · 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2139696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only x₃ carries signal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302752" y="2322576"/>
            <a:ext cx="128016" cy="0"/>
          </a:xfrm>
          <a:prstGeom prst="line">
            <a:avLst/>
          </a:prstGeom>
          <a:ln w="15240">
            <a:solidFill>
              <a:srgbClr val="54A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8458200" y="2176272"/>
            <a:ext cx="1005840" cy="292608"/>
          </a:xfrm>
          <a:prstGeom prst="rect">
            <a:avLst/>
          </a:prstGeom>
          <a:solidFill>
            <a:srgbClr val="0D0D1E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31352" y="219456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28632" y="2176272"/>
            <a:ext cx="1005840" cy="292608"/>
          </a:xfrm>
          <a:prstGeom prst="rect">
            <a:avLst/>
          </a:prstGeom>
          <a:solidFill>
            <a:srgbClr val="0D0D1E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01784" y="219456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799064" y="2176272"/>
            <a:ext cx="1005840" cy="292608"/>
          </a:xfrm>
          <a:prstGeom prst="rect">
            <a:avLst/>
          </a:prstGeom>
          <a:solidFill>
            <a:srgbClr val="54A24B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72216" y="219456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x₃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7160" y="2596896"/>
            <a:ext cx="2971800" cy="438912"/>
          </a:xfrm>
          <a:prstGeom prst="rect">
            <a:avLst/>
          </a:prstGeom>
          <a:solidFill>
            <a:srgbClr val="151526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1168" y="263347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8F0"/>
                </a:solidFill>
              </a:rPr>
              <a:t>r,η₁,η₂~ N(0,Iₘ)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46120" y="2596896"/>
            <a:ext cx="5029200" cy="438912"/>
          </a:xfrm>
          <a:prstGeom prst="rect">
            <a:avLst/>
          </a:prstGeom>
          <a:solidFill>
            <a:srgbClr val="4C78A8"/>
          </a:solidFill>
          <a:ln w="7620">
            <a:solidFill>
              <a:srgbClr val="2E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10128" y="2633472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R12 — Redund. 1↔2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10128" y="284378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views: ■ ■ 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263347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ρ-noisy copies in x₁, x₂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302752" y="2816352"/>
            <a:ext cx="128016" cy="0"/>
          </a:xfrm>
          <a:prstGeom prst="line">
            <a:avLst/>
          </a:prstGeom>
          <a:ln w="15240">
            <a:solidFill>
              <a:srgbClr val="4C7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8458200" y="2670048"/>
            <a:ext cx="1005840" cy="292608"/>
          </a:xfrm>
          <a:prstGeom prst="rect">
            <a:avLst/>
          </a:prstGeom>
          <a:solidFill>
            <a:srgbClr val="4C78A8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31352" y="268833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x₁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28632" y="2670048"/>
            <a:ext cx="1005840" cy="292608"/>
          </a:xfrm>
          <a:prstGeom prst="rect">
            <a:avLst/>
          </a:prstGeom>
          <a:solidFill>
            <a:srgbClr val="4C78A8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01784" y="268833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x₂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799064" y="2670048"/>
            <a:ext cx="1005840" cy="292608"/>
          </a:xfrm>
          <a:prstGeom prst="rect">
            <a:avLst/>
          </a:prstGeom>
          <a:solidFill>
            <a:srgbClr val="151526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872216" y="268833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7160" y="3090672"/>
            <a:ext cx="2971800" cy="438912"/>
          </a:xfrm>
          <a:prstGeom prst="rect">
            <a:avLst/>
          </a:prstGeom>
          <a:solidFill>
            <a:srgbClr val="0D0D1E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1168" y="312724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8F0"/>
                </a:solidFill>
              </a:rPr>
              <a:t>r,η₁,η₃~ N(0,Iₘ)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46120" y="3090672"/>
            <a:ext cx="5029200" cy="438912"/>
          </a:xfrm>
          <a:prstGeom prst="rect">
            <a:avLst/>
          </a:prstGeom>
          <a:solidFill>
            <a:srgbClr val="4C78A8"/>
          </a:solidFill>
          <a:ln w="7620">
            <a:solidFill>
              <a:srgbClr val="2E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10128" y="3127248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R13 — Redund. 1↔3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10128" y="333756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views: ■ · 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9360" y="3127248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ρ-noisy copies in x₁, x₃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8302752" y="3310128"/>
            <a:ext cx="128016" cy="0"/>
          </a:xfrm>
          <a:prstGeom prst="line">
            <a:avLst/>
          </a:prstGeom>
          <a:ln w="15240">
            <a:solidFill>
              <a:srgbClr val="4C7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8458200" y="3163824"/>
            <a:ext cx="1005840" cy="292608"/>
          </a:xfrm>
          <a:prstGeom prst="rect">
            <a:avLst/>
          </a:prstGeom>
          <a:solidFill>
            <a:srgbClr val="4C78A8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31352" y="3182112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x₁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628632" y="3163824"/>
            <a:ext cx="1005840" cy="292608"/>
          </a:xfrm>
          <a:prstGeom prst="rect">
            <a:avLst/>
          </a:prstGeom>
          <a:solidFill>
            <a:srgbClr val="0D0D1E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701784" y="3182112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799064" y="3163824"/>
            <a:ext cx="1005840" cy="292608"/>
          </a:xfrm>
          <a:prstGeom prst="rect">
            <a:avLst/>
          </a:prstGeom>
          <a:solidFill>
            <a:srgbClr val="4C78A8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872216" y="3182112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x₃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7160" y="3584448"/>
            <a:ext cx="2971800" cy="438912"/>
          </a:xfrm>
          <a:prstGeom prst="rect">
            <a:avLst/>
          </a:prstGeom>
          <a:solidFill>
            <a:srgbClr val="151526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01168" y="3621024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8F0"/>
                </a:solidFill>
              </a:rPr>
              <a:t>r,η₂,η₃~ N(0,Iₘ)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46120" y="3584448"/>
            <a:ext cx="5029200" cy="438912"/>
          </a:xfrm>
          <a:prstGeom prst="rect">
            <a:avLst/>
          </a:prstGeom>
          <a:solidFill>
            <a:srgbClr val="4C78A8"/>
          </a:solidFill>
          <a:ln w="7620">
            <a:solidFill>
              <a:srgbClr val="2E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310128" y="3621024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R23 — Redund. 2↔3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10128" y="3831335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views: · ■ ■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09360" y="3621024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ρ-noisy copies in x₂, x₃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8302752" y="3803904"/>
            <a:ext cx="128016" cy="0"/>
          </a:xfrm>
          <a:prstGeom prst="line">
            <a:avLst/>
          </a:prstGeom>
          <a:ln w="15240">
            <a:solidFill>
              <a:srgbClr val="4C7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8458200" y="3657600"/>
            <a:ext cx="1005840" cy="292608"/>
          </a:xfrm>
          <a:prstGeom prst="rect">
            <a:avLst/>
          </a:prstGeom>
          <a:solidFill>
            <a:srgbClr val="151526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531352" y="3675887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628632" y="3657600"/>
            <a:ext cx="1005840" cy="292608"/>
          </a:xfrm>
          <a:prstGeom prst="rect">
            <a:avLst/>
          </a:prstGeom>
          <a:solidFill>
            <a:srgbClr val="4C78A8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701784" y="3675887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x₂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799064" y="3657600"/>
            <a:ext cx="1005840" cy="292608"/>
          </a:xfrm>
          <a:prstGeom prst="rect">
            <a:avLst/>
          </a:prstGeom>
          <a:solidFill>
            <a:srgbClr val="4C78A8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872216" y="3675887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x₃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7160" y="4078224"/>
            <a:ext cx="2971800" cy="438912"/>
          </a:xfrm>
          <a:prstGeom prst="rect">
            <a:avLst/>
          </a:prstGeom>
          <a:solidFill>
            <a:srgbClr val="0D0D1E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1168" y="411480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8F0"/>
                </a:solidFill>
              </a:rPr>
              <a:t>r,η₁,η₂,η₃~N(0,Iₘ)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46120" y="4078224"/>
            <a:ext cx="5029200" cy="438912"/>
          </a:xfrm>
          <a:prstGeom prst="rect">
            <a:avLst/>
          </a:prstGeom>
          <a:solidFill>
            <a:srgbClr val="4C78A8"/>
          </a:solidFill>
          <a:ln w="7620">
            <a:solidFill>
              <a:srgbClr val="2E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310128" y="4114800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R123 — Redund. all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10128" y="432511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views: ■ ■ 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09360" y="411480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all three views correlated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8302752" y="4297680"/>
            <a:ext cx="128016" cy="0"/>
          </a:xfrm>
          <a:prstGeom prst="line">
            <a:avLst/>
          </a:prstGeom>
          <a:ln w="15240">
            <a:solidFill>
              <a:srgbClr val="4C7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8458200" y="4151376"/>
            <a:ext cx="1005840" cy="292608"/>
          </a:xfrm>
          <a:prstGeom prst="rect">
            <a:avLst/>
          </a:prstGeom>
          <a:solidFill>
            <a:srgbClr val="4C78A8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531352" y="4169663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x₁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628632" y="4151376"/>
            <a:ext cx="1005840" cy="292608"/>
          </a:xfrm>
          <a:prstGeom prst="rect">
            <a:avLst/>
          </a:prstGeom>
          <a:solidFill>
            <a:srgbClr val="4C78A8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701784" y="4169663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x₂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799064" y="4151376"/>
            <a:ext cx="1005840" cy="292608"/>
          </a:xfrm>
          <a:prstGeom prst="rect">
            <a:avLst/>
          </a:prstGeom>
          <a:solidFill>
            <a:srgbClr val="4C78A8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872216" y="4169663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x₃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37160" y="4572000"/>
            <a:ext cx="2971800" cy="438912"/>
          </a:xfrm>
          <a:prstGeom prst="rect">
            <a:avLst/>
          </a:prstGeom>
          <a:solidFill>
            <a:srgbClr val="151526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01168" y="460857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8F0"/>
                </a:solidFill>
              </a:rPr>
              <a:t>a,b ~ N(0, Iₘ)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246120" y="4572000"/>
            <a:ext cx="5029200" cy="438912"/>
          </a:xfrm>
          <a:prstGeom prst="rect">
            <a:avLst/>
          </a:prstGeom>
          <a:solidFill>
            <a:srgbClr val="E45756"/>
          </a:solidFill>
          <a:ln w="7620">
            <a:solidFill>
              <a:srgbClr val="C639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310128" y="4608576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S12→3 — Synergy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10128" y="481888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views: ● ● ★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309360" y="4608576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MLP(a,b)→x₃; de-leaked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8302752" y="4791456"/>
            <a:ext cx="128016" cy="0"/>
          </a:xfrm>
          <a:prstGeom prst="line">
            <a:avLst/>
          </a:prstGeom>
          <a:ln w="15240">
            <a:solidFill>
              <a:srgbClr val="E457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8458200" y="4645152"/>
            <a:ext cx="1005840" cy="292608"/>
          </a:xfrm>
          <a:prstGeom prst="rect">
            <a:avLst/>
          </a:prstGeom>
          <a:solidFill>
            <a:srgbClr val="E45756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531352" y="466344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x₁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628632" y="4645152"/>
            <a:ext cx="1005840" cy="292608"/>
          </a:xfrm>
          <a:prstGeom prst="rect">
            <a:avLst/>
          </a:prstGeom>
          <a:solidFill>
            <a:srgbClr val="E45756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701784" y="466344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x₂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799064" y="4645152"/>
            <a:ext cx="1005840" cy="292608"/>
          </a:xfrm>
          <a:prstGeom prst="rect">
            <a:avLst/>
          </a:prstGeom>
          <a:solidFill>
            <a:srgbClr val="E45756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872216" y="466344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x₃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37160" y="5065776"/>
            <a:ext cx="2971800" cy="438912"/>
          </a:xfrm>
          <a:prstGeom prst="rect">
            <a:avLst/>
          </a:prstGeom>
          <a:solidFill>
            <a:srgbClr val="0D0D1E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01168" y="510235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8F0"/>
                </a:solidFill>
              </a:rPr>
              <a:t>a,b ~ N(0, Iₘ)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246120" y="5065776"/>
            <a:ext cx="5029200" cy="438912"/>
          </a:xfrm>
          <a:prstGeom prst="rect">
            <a:avLst/>
          </a:prstGeom>
          <a:solidFill>
            <a:srgbClr val="E45756"/>
          </a:solidFill>
          <a:ln w="7620">
            <a:solidFill>
              <a:srgbClr val="C639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310128" y="5102352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S13→2 — Synergy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310128" y="531266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views: ● · ★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309360" y="510235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MLP(a,b)→x₂; de-leaked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8302752" y="5285232"/>
            <a:ext cx="128016" cy="0"/>
          </a:xfrm>
          <a:prstGeom prst="line">
            <a:avLst/>
          </a:prstGeom>
          <a:ln w="15240">
            <a:solidFill>
              <a:srgbClr val="E457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tangle 121"/>
          <p:cNvSpPr/>
          <p:nvPr/>
        </p:nvSpPr>
        <p:spPr>
          <a:xfrm>
            <a:off x="8458200" y="5138928"/>
            <a:ext cx="1005840" cy="292608"/>
          </a:xfrm>
          <a:prstGeom prst="rect">
            <a:avLst/>
          </a:prstGeom>
          <a:solidFill>
            <a:srgbClr val="E45756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531352" y="515721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x₁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628632" y="5138928"/>
            <a:ext cx="1005840" cy="292608"/>
          </a:xfrm>
          <a:prstGeom prst="rect">
            <a:avLst/>
          </a:prstGeom>
          <a:solidFill>
            <a:srgbClr val="0D0D1E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701784" y="515721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799064" y="5138928"/>
            <a:ext cx="1005840" cy="292608"/>
          </a:xfrm>
          <a:prstGeom prst="rect">
            <a:avLst/>
          </a:prstGeom>
          <a:solidFill>
            <a:srgbClr val="E45756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872216" y="515721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x₃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37160" y="5559552"/>
            <a:ext cx="2971800" cy="438912"/>
          </a:xfrm>
          <a:prstGeom prst="rect">
            <a:avLst/>
          </a:prstGeom>
          <a:solidFill>
            <a:srgbClr val="151526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01168" y="559612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8F0"/>
                </a:solidFill>
              </a:rPr>
              <a:t>a,b ~ N(0, Iₘ)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246120" y="5559552"/>
            <a:ext cx="5029200" cy="438912"/>
          </a:xfrm>
          <a:prstGeom prst="rect">
            <a:avLst/>
          </a:prstGeom>
          <a:solidFill>
            <a:srgbClr val="E45756"/>
          </a:solidFill>
          <a:ln w="7620">
            <a:solidFill>
              <a:srgbClr val="C639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310128" y="5596128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S23→1 — Synergy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310128" y="58064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views: · ● ★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309360" y="5596128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MLP(a,b)→x₁; de-leaked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8302752" y="5779008"/>
            <a:ext cx="128016" cy="0"/>
          </a:xfrm>
          <a:prstGeom prst="line">
            <a:avLst/>
          </a:prstGeom>
          <a:ln w="15240">
            <a:solidFill>
              <a:srgbClr val="E457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ectangle 134"/>
          <p:cNvSpPr/>
          <p:nvPr/>
        </p:nvSpPr>
        <p:spPr>
          <a:xfrm>
            <a:off x="8458200" y="5632704"/>
            <a:ext cx="1005840" cy="292608"/>
          </a:xfrm>
          <a:prstGeom prst="rect">
            <a:avLst/>
          </a:prstGeom>
          <a:solidFill>
            <a:srgbClr val="151526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531352" y="5650992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628632" y="5632704"/>
            <a:ext cx="1005840" cy="292608"/>
          </a:xfrm>
          <a:prstGeom prst="rect">
            <a:avLst/>
          </a:prstGeom>
          <a:solidFill>
            <a:srgbClr val="E45756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701784" y="5650992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x₂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799064" y="5632704"/>
            <a:ext cx="1005840" cy="292608"/>
          </a:xfrm>
          <a:prstGeom prst="rect">
            <a:avLst/>
          </a:prstGeom>
          <a:solidFill>
            <a:srgbClr val="E45756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872216" y="5650992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x₃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458200" y="768096"/>
            <a:ext cx="1005840" cy="274320"/>
          </a:xfrm>
          <a:prstGeom prst="rect">
            <a:avLst/>
          </a:prstGeom>
          <a:solidFill>
            <a:srgbClr val="202040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458200" y="78638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0C4FF"/>
                </a:solidFill>
              </a:rPr>
              <a:t>x₁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628632" y="768096"/>
            <a:ext cx="1005840" cy="274320"/>
          </a:xfrm>
          <a:prstGeom prst="rect">
            <a:avLst/>
          </a:prstGeom>
          <a:solidFill>
            <a:srgbClr val="202040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628632" y="78638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0C4FF"/>
                </a:solidFill>
              </a:rPr>
              <a:t>x₂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799064" y="768096"/>
            <a:ext cx="1005840" cy="274320"/>
          </a:xfrm>
          <a:prstGeom prst="rect">
            <a:avLst/>
          </a:prstGeom>
          <a:solidFill>
            <a:srgbClr val="202040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0799064" y="78638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0C4FF"/>
                </a:solidFill>
              </a:rPr>
              <a:t>x₃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37160" y="6126480"/>
            <a:ext cx="11612880" cy="475488"/>
          </a:xfrm>
          <a:prstGeom prst="rect">
            <a:avLst/>
          </a:prstGeom>
          <a:solidFill>
            <a:srgbClr val="151530"/>
          </a:solidFill>
          <a:ln w="12700">
            <a:solidFill>
              <a:srgbClr val="F58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56032" y="6163056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8E1E"/>
                </a:solidFill>
              </a:rPr>
              <a:t>Shared backbone  (if gain γ &gt; 0):   z ~ N(0, Iₘ)  →  x_v += γ·α·P_shared·z     (same z and P_shared across all views — creates cross-view correlation not tied to any PID atom)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217920" y="6163056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Noise:  ε_v ~ N(0, σ²I_d)  →  x_v += ε_v  independently per view          Multi-atom mode: x_v = Σ_{k=1}^{K} x_v^{atom_k}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37160" y="68580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C4FF"/>
                </a:solidFill>
              </a:rPr>
              <a:t>Legend: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58368" y="694944"/>
            <a:ext cx="137160" cy="128016"/>
          </a:xfrm>
          <a:prstGeom prst="rect">
            <a:avLst/>
          </a:prstGeom>
          <a:solidFill>
            <a:srgbClr val="54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22959" y="676656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8E8F0"/>
                </a:solidFill>
              </a:rPr>
              <a:t>Unique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075688" y="694944"/>
            <a:ext cx="137160" cy="128016"/>
          </a:xfrm>
          <a:prstGeom prst="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240280" y="676656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8E8F0"/>
                </a:solidFill>
              </a:rPr>
              <a:t>Redundancy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493008" y="694944"/>
            <a:ext cx="137160" cy="128016"/>
          </a:xfrm>
          <a:prstGeom prst="rect">
            <a:avLst/>
          </a:prstGeom>
          <a:solidFill>
            <a:srgbClr val="E45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657600" y="676656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8E8F0"/>
                </a:solidFill>
              </a:rPr>
              <a:t>Synergy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910328" y="694944"/>
            <a:ext cx="137160" cy="128016"/>
          </a:xfrm>
          <a:prstGeom prst="rect">
            <a:avLst/>
          </a:prstGeom>
          <a:solidFill>
            <a:srgbClr val="F58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074920" y="676656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8E8F0"/>
                </a:solidFill>
              </a:rPr>
              <a:t>Shared backbone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327648" y="694944"/>
            <a:ext cx="137160" cy="12801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492240" y="676656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8E8F0"/>
                </a:solidFill>
              </a:rPr>
              <a:t>Noise / zero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D0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0E0FF"/>
                </a:solidFill>
              </a:rPr>
              <a:t>PID-SAR-3: Mathematical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438912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C4FF"/>
                </a:solidFill>
              </a:rPr>
              <a:t>d=32 obs. dim  |  m=8 latent dim  |  σ=0.02 noise  |  ρ∈{0.8}  |  α~U[0.8,1.2]  |  hop∈{1}  |  λ=0.25 de-leakage  |  γ=4.0 backbone gain  |  K=5 atoms (multi-atom mode)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749808"/>
            <a:ext cx="5760720" cy="1874519"/>
          </a:xfrm>
          <a:prstGeom prst="rect">
            <a:avLst/>
          </a:prstGeom>
          <a:solidFill>
            <a:srgbClr val="101028"/>
          </a:solidFill>
          <a:ln w="15240">
            <a:solidFill>
              <a:srgbClr val="54A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749808"/>
            <a:ext cx="5760720" cy="237744"/>
          </a:xfrm>
          <a:prstGeom prst="rect">
            <a:avLst/>
          </a:prstGeom>
          <a:solidFill>
            <a:srgbClr val="54A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56235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① Unique atom  U_v  (v ∈ {1, 2, 3})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024127"/>
            <a:ext cx="5596128" cy="1563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0F0FF"/>
                </a:solidFill>
              </a:rPr>
              <a:t>u  ~  N(0, I_m)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F0F0FF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0F0FF"/>
                </a:solidFill>
              </a:rPr>
              <a:t>x_v  =  α · P_v^{U_v} · u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F0F0FF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0F0FF"/>
                </a:solidFill>
              </a:rPr>
              <a:t>x_{v'} = 0   for all v' ≠ 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F0F0FF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BBBBCC"/>
                </a:solidFill>
              </a:rPr>
              <a:t>• u is a private m-dim latent, visible only in view 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BBBBCC"/>
                </a:solidFill>
              </a:rPr>
              <a:t>• P_v^{U_v} ∈ ℝ^{d×m} is a fixed column-normalised random projection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BBBBCC"/>
                </a:solidFill>
              </a:rPr>
              <a:t>• α ~ U[α_min, α_max] scales the signal amplitude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4768" y="749808"/>
            <a:ext cx="5870448" cy="1874519"/>
          </a:xfrm>
          <a:prstGeom prst="rect">
            <a:avLst/>
          </a:prstGeom>
          <a:solidFill>
            <a:srgbClr val="101028"/>
          </a:solidFill>
          <a:ln w="15240">
            <a:solidFill>
              <a:srgbClr val="4C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44768" y="749808"/>
            <a:ext cx="5870448" cy="237744"/>
          </a:xfrm>
          <a:prstGeom prst="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768096"/>
            <a:ext cx="5733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② Redundancy atoms  R_{ij} / R_{123}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496" y="1024127"/>
            <a:ext cx="5705856" cy="1563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0F0FF"/>
                </a:solidFill>
              </a:rPr>
              <a:t>r, η_i, η_j  ~  N(0, I_m)  independently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F0F0FF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0F0FF"/>
                </a:solidFill>
              </a:rPr>
              <a:t>r_i  =  √ρ · r  +  √(1−ρ) · η_i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0F0FF"/>
                </a:solidFill>
              </a:rPr>
              <a:t>r_j  =  √ρ · r  +  √(1−ρ) · η_j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F0F0FF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0F0FF"/>
                </a:solidFill>
              </a:rPr>
              <a:t>x_i = α · P_i^{R_{ij}} · r_i ,   x_j = α · P_j^{R_{ij}} · r_j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0F0FF"/>
                </a:solidFill>
              </a:rPr>
              <a:t>x_k = 0   (k ≠ i, j)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F0F0FF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BBBBCC"/>
                </a:solidFill>
              </a:rPr>
              <a:t>• r is the shared factor; ρ controls correlation strength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BBBBCC"/>
                </a:solidFill>
              </a:rPr>
              <a:t>• R_{123}: same formula extended to all three views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2788920"/>
            <a:ext cx="5760720" cy="2395728"/>
          </a:xfrm>
          <a:prstGeom prst="rect">
            <a:avLst/>
          </a:prstGeom>
          <a:solidFill>
            <a:srgbClr val="101028"/>
          </a:solidFill>
          <a:ln w="15240">
            <a:solidFill>
              <a:srgbClr val="E45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4592" y="2788920"/>
            <a:ext cx="5760720" cy="237744"/>
          </a:xfrm>
          <a:prstGeom prst="rect">
            <a:avLst/>
          </a:prstGeom>
          <a:solidFill>
            <a:srgbClr val="E45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807208"/>
            <a:ext cx="56235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③ Directional Synergy  S_{ij→k}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063239"/>
            <a:ext cx="5596128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0F0FF"/>
                </a:solidFill>
              </a:rPr>
              <a:t>a, b  ~  N(0, I_m)   (independent source latents)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F0F0FF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0F0FF"/>
                </a:solidFill>
              </a:rPr>
              <a:t>x_i = α · P_i^{A_{ij}} · 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0F0FF"/>
                </a:solidFill>
              </a:rPr>
              <a:t>x_j = α · P_j^{B_{ij}} · 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F0F0FF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0F0FF"/>
                </a:solidFill>
              </a:rPr>
              <a:t>s₀  =  f_MLP(a, b ; hop)     [fixed random residual MLP, tanh activations]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F0F0FF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0F0FF"/>
                </a:solidFill>
              </a:rPr>
              <a:t>δ  =  a · C_a[hop]  +  b · C_b[hop]      [linear de-leakage component]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BBBBCC"/>
                </a:solidFill>
              </a:rPr>
              <a:t>     (C_a, C_b fitted by ridge regression to predict s₀ from a, b)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F0F0FF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0F0FF"/>
                </a:solidFill>
              </a:rPr>
              <a:t>s  =  s₀  −  λ · δ          [de-leaked synergy signal]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F0F0FF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0F0FF"/>
                </a:solidFill>
              </a:rPr>
              <a:t>x_k = α · P_k^{SYN_{ij}} · 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F0F0FF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BBBBCC"/>
                </a:solidFill>
              </a:rPr>
              <a:t>• x_k depends non-linearly on BOTH x_i and x_j but not individually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BBBBCC"/>
                </a:solidFill>
              </a:rPr>
              <a:t>• de-leakage removes the component of s₀ predictable from a or b alone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2788920"/>
            <a:ext cx="5870448" cy="2395728"/>
          </a:xfrm>
          <a:prstGeom prst="rect">
            <a:avLst/>
          </a:prstGeom>
          <a:solidFill>
            <a:srgbClr val="101028"/>
          </a:solidFill>
          <a:ln w="15240">
            <a:solidFill>
              <a:srgbClr val="F58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2788920"/>
            <a:ext cx="5870448" cy="237744"/>
          </a:xfrm>
          <a:prstGeom prst="rect">
            <a:avLst/>
          </a:prstGeom>
          <a:solidFill>
            <a:srgbClr val="F58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2807208"/>
            <a:ext cx="5733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④ Shared backbone, noise &amp; composition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3063239"/>
            <a:ext cx="5705856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0F0FF"/>
                </a:solidFill>
              </a:rPr>
              <a:t>Shared backbone  (applied after atom construction):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BBBBCC"/>
                </a:solidFill>
              </a:rPr>
              <a:t>   z  ~  N(0, I_m)   [per-sample random latent]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BBBBCC"/>
                </a:solidFill>
              </a:rPr>
              <a:t>   x_v  ←  x_v  +  γ · α · P^{shared}_v · 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BBBBCC"/>
                </a:solidFill>
              </a:rPr>
              <a:t>   Same z and same P^{shared}_v across all views → cross-view correlation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BBBBCC"/>
                </a:solidFill>
              </a:rPr>
              <a:t>   P^{shared} is tied (identical) across views when tied_projection=True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F0F0FF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0F0FF"/>
                </a:solidFill>
              </a:rPr>
              <a:t>Observation noise (independent per view):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BBBBCC"/>
                </a:solidFill>
              </a:rPr>
              <a:t>   ε_v  ~  N(0, σ² I_d)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BBBBCC"/>
                </a:solidFill>
              </a:rPr>
              <a:t>   x_v  ←  x_v  +  ε_v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F0F0FF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0F0FF"/>
                </a:solidFill>
              </a:rPr>
              <a:t>Multi-atom composition (K atoms, K ≥ 2):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BBBBCC"/>
                </a:solidFill>
              </a:rPr>
              <a:t>   x_v^{total}  =  Σ_{k=1}^{K}  x_v^{atom_k}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BBBBCC"/>
                </a:solidFill>
              </a:rPr>
              <a:t>   Primary atom label retained; K−1 additional atoms sampled w/o replacement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F0F0FF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0F0FF"/>
                </a:solidFill>
              </a:rPr>
              <a:t>Fixed projections:  P[view][comp] ∈ ℝ^{d×m}, columns normalised to unit ℓ₂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0F0FF"/>
                </a:solidFill>
              </a:rPr>
              <a:t>Synergy MLP:  residual blocks with tanh; weights fixed at generator init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5248656"/>
            <a:ext cx="11841480" cy="274320"/>
          </a:xfrm>
          <a:prstGeom prst="rect">
            <a:avLst/>
          </a:prstGeom>
          <a:solidFill>
            <a:srgbClr val="0D0D22"/>
          </a:solidFill>
          <a:ln w="508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5266944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C4FF"/>
                </a:solidFill>
              </a:rPr>
              <a:t>Projections:  P_v^{comp} ~ N(0, 1/√d), col-normalised  |  α ~ U[0.8, 1.2]  |  ρ ∈ {0.2, 0.5, 0.8}  |  hop ∈ {1,2,3,4}  |  σ = 0.02 (low noise)  |  λ = 0.25 (de-leakage)  |  γ = 4.0 (backbone)  |  K = 1 (single-atom) or 5 (multi-atom)  |  Balanced over 10 PID atoms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